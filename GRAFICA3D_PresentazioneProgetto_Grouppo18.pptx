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80" r:id="rId6"/>
    <p:sldId id="260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61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563048-7451-DD2B-2720-3AF49695F738}" v="1" dt="2026-07-06T10:25:34.672"/>
    <p1510:client id="{A4EAF3C6-A849-6734-1D2E-2693A872AEE3}" v="1" dt="2026-07-06T13:09:29.997"/>
    <p1510:client id="{C90E3F5E-0808-2B9E-7131-78773B6DF44C}" v="1" dt="2026-07-06T13:12:03.286"/>
    <p1510:client id="{CE98378C-6F1F-FFD7-09E9-743530B7FA3A}" v="162" dt="2026-07-06T09:48:03.590"/>
    <p1510:client id="{DF932064-1834-7E49-991A-A7A9FE9A6162}" v="1085" dt="2026-07-06T10:44:31.943"/>
    <p1510:client id="{E9B59CF5-2D2E-29B9-3CA7-8F7AE64D8038}" v="12" dt="2026-07-06T13:07:55.6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68"/>
  </p:normalViewPr>
  <p:slideViewPr>
    <p:cSldViewPr snapToGrid="0">
      <p:cViewPr varScale="1">
        <p:scale>
          <a:sx n="119" d="100"/>
          <a:sy n="119" d="100"/>
        </p:scale>
        <p:origin x="2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62749-12F8-4327-969C-11E0092573DA}" type="datetimeFigureOut">
              <a:t>06/07/26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20CB62-2768-44F2-B1BD-E5FE18504FBF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84576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21955-5F4C-0017-5614-87D61CABE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6E4AD9-754D-44B2-EDDB-5FF653574F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D33843-80C9-ABE1-2320-0478D541F7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632C21-ED4B-D815-8F24-903FD18D34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919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645920"/>
            <a:ext cx="5120640" cy="5120640"/>
          </a:xfrm>
          <a:prstGeom prst="ellipse">
            <a:avLst/>
          </a:prstGeom>
          <a:solidFill>
            <a:srgbClr val="0F5B6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10241280" y="3291840"/>
            <a:ext cx="3108960" cy="3108960"/>
          </a:xfrm>
          <a:prstGeom prst="ellipse">
            <a:avLst/>
          </a:prstGeom>
          <a:solidFill>
            <a:srgbClr val="2FB6C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9646920" y="1965960"/>
            <a:ext cx="1097280" cy="1097280"/>
          </a:xfrm>
          <a:prstGeom prst="ellipse">
            <a:avLst/>
          </a:prstGeom>
          <a:solidFill>
            <a:srgbClr val="F26C5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7724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 kern="0" spc="200">
                <a:solidFill>
                  <a:srgbClr val="2FB6C9"/>
                </a:solidFill>
                <a:latin typeface="Calibri"/>
                <a:ea typeface="Calibri"/>
                <a:cs typeface="Calibri"/>
              </a:rPr>
              <a:t>PROGETTO · SOLUZIONE DI GRAFICA 3D PER APPLICAZIONI BIOMEDICHE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616131" y="1754052"/>
            <a:ext cx="8501017" cy="17518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Multiclass</a:t>
            </a:r>
            <a:r>
              <a:rPr lang="en-US" sz="4000" b="1">
                <a:solidFill>
                  <a:srgbClr val="FFFFFF"/>
                </a:solidFill>
                <a:ea typeface="+mn-lt"/>
                <a:cs typeface="+mn-lt"/>
              </a:rPr>
              <a:t> Rib Fracture Classification from CT: Combining Deep Embeddings with Handcrafted Features</a:t>
            </a:r>
            <a:endParaRPr lang="en-US" sz="4000" b="1">
              <a:ea typeface="+mn-lt"/>
              <a:cs typeface="+mn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632823" y="3749040"/>
            <a:ext cx="7596777" cy="213650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12000"/>
              </a:lnSpc>
            </a:pPr>
            <a:r>
              <a:rPr lang="en-US" sz="1600" u="sng">
                <a:solidFill>
                  <a:srgbClr val="E8F1F3"/>
                </a:solidFill>
                <a:latin typeface="Calibri"/>
                <a:ea typeface="Calibri"/>
                <a:cs typeface="Calibri"/>
              </a:rPr>
              <a:t>Gruppo 18</a:t>
            </a:r>
            <a:r>
              <a:rPr lang="en-US" sz="1600">
                <a:solidFill>
                  <a:srgbClr val="E8F1F3"/>
                </a:solidFill>
                <a:latin typeface="Calibri"/>
                <a:ea typeface="Calibri"/>
                <a:cs typeface="Calibri"/>
              </a:rPr>
              <a:t>:</a:t>
            </a:r>
            <a:endParaRPr lang="it-IT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ct val="112000"/>
              </a:lnSpc>
              <a:buFont typeface="Wingdings"/>
              <a:buChar char="ü"/>
            </a:pPr>
            <a:r>
              <a:rPr lang="en-US" sz="1600">
                <a:solidFill>
                  <a:srgbClr val="E8F1F3"/>
                </a:solidFill>
                <a:ea typeface="Calibri"/>
                <a:cs typeface="Calibri"/>
              </a:rPr>
              <a:t>Fioretti Diletta s349017</a:t>
            </a:r>
          </a:p>
          <a:p>
            <a:pPr marL="285750" indent="-285750">
              <a:lnSpc>
                <a:spcPct val="112000"/>
              </a:lnSpc>
              <a:buFont typeface="Wingdings"/>
              <a:buChar char="ü"/>
            </a:pPr>
            <a:r>
              <a:rPr lang="en-US" sz="1600">
                <a:solidFill>
                  <a:srgbClr val="E8F1F3"/>
                </a:solidFill>
                <a:ea typeface="Calibri"/>
                <a:cs typeface="Calibri"/>
              </a:rPr>
              <a:t>Moretti Alessia s342483</a:t>
            </a:r>
          </a:p>
          <a:p>
            <a:pPr marL="285750" indent="-285750">
              <a:lnSpc>
                <a:spcPct val="112000"/>
              </a:lnSpc>
              <a:buFont typeface="Wingdings"/>
              <a:buChar char="ü"/>
            </a:pPr>
            <a:r>
              <a:rPr lang="en-US" sz="1600">
                <a:solidFill>
                  <a:srgbClr val="E8F1F3"/>
                </a:solidFill>
                <a:ea typeface="Calibri"/>
                <a:cs typeface="Calibri"/>
              </a:rPr>
              <a:t>Parisi Sara s345202</a:t>
            </a:r>
          </a:p>
          <a:p>
            <a:pPr marL="285750" indent="-285750">
              <a:lnSpc>
                <a:spcPct val="112000"/>
              </a:lnSpc>
              <a:buFont typeface="Wingdings"/>
              <a:buChar char="ü"/>
            </a:pPr>
            <a:r>
              <a:rPr lang="en-US" sz="1600">
                <a:solidFill>
                  <a:srgbClr val="E8F1F3"/>
                </a:solidFill>
                <a:ea typeface="Calibri"/>
                <a:cs typeface="Calibri"/>
              </a:rPr>
              <a:t>Salvadori Camilla s345214</a:t>
            </a:r>
          </a:p>
          <a:p>
            <a:pPr marL="285750" indent="-285750">
              <a:lnSpc>
                <a:spcPct val="112000"/>
              </a:lnSpc>
              <a:buFont typeface="Wingdings"/>
              <a:buChar char="ü"/>
            </a:pPr>
            <a:r>
              <a:rPr lang="en-US" sz="1600">
                <a:solidFill>
                  <a:srgbClr val="E8F1F3"/>
                </a:solidFill>
                <a:ea typeface="Calibri"/>
                <a:cs typeface="Calibri"/>
              </a:rPr>
              <a:t>Tronconi Jenny s347378</a:t>
            </a:r>
          </a:p>
        </p:txBody>
      </p:sp>
      <p:sp>
        <p:nvSpPr>
          <p:cNvPr id="8" name="Text 6"/>
          <p:cNvSpPr/>
          <p:nvPr/>
        </p:nvSpPr>
        <p:spPr>
          <a:xfrm>
            <a:off x="640080" y="5897880"/>
            <a:ext cx="91440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Data: </a:t>
            </a:r>
            <a:r>
              <a:rPr lang="en-US" sz="1300">
                <a:solidFill>
                  <a:srgbClr val="2FB6C9"/>
                </a:solidFill>
                <a:latin typeface="Calibri"/>
                <a:ea typeface="Calibri"/>
                <a:cs typeface="Calibri"/>
              </a:rPr>
              <a:t>07/07/20226</a:t>
            </a:r>
            <a:endParaRPr lang="en-US" sz="13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737360"/>
            <a:ext cx="5120640" cy="5120640"/>
          </a:xfrm>
          <a:prstGeom prst="ellipse">
            <a:avLst/>
          </a:prstGeom>
          <a:solidFill>
            <a:srgbClr val="0F5B6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10607040" y="3657600"/>
            <a:ext cx="2926080" cy="2926080"/>
          </a:xfrm>
          <a:prstGeom prst="ellipse">
            <a:avLst/>
          </a:prstGeom>
          <a:solidFill>
            <a:srgbClr val="2FB6C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1371600" cy="1371600"/>
          </a:xfrm>
          <a:prstGeom prst="ellipse">
            <a:avLst/>
          </a:prstGeom>
          <a:solidFill>
            <a:srgbClr val="F26C5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20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>
                <a:solidFill>
                  <a:srgbClr val="2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1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685800" y="333756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Introduzione</a:t>
            </a:r>
            <a:endParaRPr lang="en-US" sz="4000"/>
          </a:p>
        </p:txBody>
      </p:sp>
      <p:sp>
        <p:nvSpPr>
          <p:cNvPr id="8" name="Text 6"/>
          <p:cNvSpPr/>
          <p:nvPr/>
        </p:nvSpPr>
        <p:spPr>
          <a:xfrm>
            <a:off x="731520" y="5029200"/>
            <a:ext cx="786384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600">
              <a:solidFill>
                <a:srgbClr val="E8F1F3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F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A33"/>
                </a:solidFill>
                <a:latin typeface="Cambria" pitchFamily="34" charset="0"/>
              </a:rPr>
              <a:t>Tipi di </a:t>
            </a:r>
            <a:r>
              <a:rPr lang="en-US" sz="3000" b="1" dirty="0" err="1">
                <a:solidFill>
                  <a:srgbClr val="0E2A33"/>
                </a:solidFill>
                <a:latin typeface="Cambria" pitchFamily="34" charset="0"/>
              </a:rPr>
              <a:t>frattura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5854" y="1556264"/>
            <a:ext cx="2697480" cy="25603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8F1F3"/>
            </a:solidFill>
            <a:prstDash val="solid"/>
          </a:ln>
          <a:effectLst>
            <a:outerShdw blurRad="101600" dist="25400" dir="5400000" algn="bl" rotWithShape="0">
              <a:srgbClr val="9BB0B6">
                <a:alpha val="32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5" name="Shape 3"/>
          <p:cNvSpPr/>
          <p:nvPr/>
        </p:nvSpPr>
        <p:spPr>
          <a:xfrm>
            <a:off x="1528834" y="1662424"/>
            <a:ext cx="731520" cy="731520"/>
          </a:xfrm>
          <a:prstGeom prst="ellipse">
            <a:avLst/>
          </a:prstGeom>
          <a:solidFill>
            <a:srgbClr val="0E2A33"/>
          </a:solidFill>
          <a:ln/>
        </p:spPr>
        <p:txBody>
          <a:bodyPr/>
          <a:lstStyle/>
          <a:p>
            <a:pPr algn="ctr"/>
            <a:endParaRPr lang="it-IT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531479" y="166019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Buckle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21040" y="2743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8640" y="5074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 err="1">
                <a:solidFill>
                  <a:srgbClr val="0F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48640" y="539496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it-IT" dirty="0">
                <a:latin typeface="Cambria" panose="02040503050406030204" pitchFamily="18" charset="0"/>
              </a:rPr>
              <a:t>Classificazione automatica delle fratture costali a partire da immagini tomografiche (TC), proponendo un approccio che combina </a:t>
            </a:r>
            <a:r>
              <a:rPr lang="it-IT" dirty="0" err="1">
                <a:latin typeface="Cambria" panose="02040503050406030204" pitchFamily="18" charset="0"/>
              </a:rPr>
              <a:t>handcrafted</a:t>
            </a:r>
            <a:r>
              <a:rPr lang="it-IT" dirty="0">
                <a:latin typeface="Cambria" panose="02040503050406030204" pitchFamily="18" charset="0"/>
              </a:rPr>
              <a:t> features e 3D deep features</a:t>
            </a:r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34" name="Shape 2">
            <a:extLst>
              <a:ext uri="{FF2B5EF4-FFF2-40B4-BE49-F238E27FC236}">
                <a16:creationId xmlns:a16="http://schemas.microsoft.com/office/drawing/2014/main" id="{0D6E7487-2ADA-8EA5-E355-78C5D81D5BB5}"/>
              </a:ext>
            </a:extLst>
          </p:cNvPr>
          <p:cNvSpPr/>
          <p:nvPr/>
        </p:nvSpPr>
        <p:spPr>
          <a:xfrm>
            <a:off x="3305032" y="1556264"/>
            <a:ext cx="2697480" cy="25603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8F1F3"/>
            </a:solidFill>
            <a:prstDash val="solid"/>
          </a:ln>
          <a:effectLst>
            <a:outerShdw blurRad="101600" dist="25400" dir="5400000" algn="bl" rotWithShape="0">
              <a:srgbClr val="9BB0B6">
                <a:alpha val="32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35" name="Shape 3">
            <a:extLst>
              <a:ext uri="{FF2B5EF4-FFF2-40B4-BE49-F238E27FC236}">
                <a16:creationId xmlns:a16="http://schemas.microsoft.com/office/drawing/2014/main" id="{82A02714-EF14-7B30-E8A1-E0C948D1D7E4}"/>
              </a:ext>
            </a:extLst>
          </p:cNvPr>
          <p:cNvSpPr/>
          <p:nvPr/>
        </p:nvSpPr>
        <p:spPr>
          <a:xfrm>
            <a:off x="4288012" y="1662424"/>
            <a:ext cx="731520" cy="731520"/>
          </a:xfrm>
          <a:prstGeom prst="ellipse">
            <a:avLst/>
          </a:prstGeom>
          <a:solidFill>
            <a:srgbClr val="0E2A33"/>
          </a:solidFill>
          <a:ln/>
        </p:spPr>
        <p:txBody>
          <a:bodyPr/>
          <a:lstStyle/>
          <a:p>
            <a:pPr algn="ctr"/>
            <a:endParaRPr lang="it-IT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8297B449-88A4-473C-C36A-585ADBA5C695}"/>
              </a:ext>
            </a:extLst>
          </p:cNvPr>
          <p:cNvSpPr/>
          <p:nvPr/>
        </p:nvSpPr>
        <p:spPr>
          <a:xfrm>
            <a:off x="4290657" y="166019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C2BE7900-FF3A-1AAB-08B8-A9E34B3D068C}"/>
              </a:ext>
            </a:extLst>
          </p:cNvPr>
          <p:cNvSpPr/>
          <p:nvPr/>
        </p:nvSpPr>
        <p:spPr>
          <a:xfrm>
            <a:off x="3810738" y="2743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b="1" dirty="0">
                <a:solidFill>
                  <a:srgbClr val="0E2A33"/>
                </a:solidFill>
                <a:latin typeface="Cambria" pitchFamily="34" charset="0"/>
              </a:rPr>
              <a:t>Non-displaced</a:t>
            </a:r>
            <a:endParaRPr lang="en-US" sz="1800" dirty="0"/>
          </a:p>
        </p:txBody>
      </p:sp>
      <p:sp>
        <p:nvSpPr>
          <p:cNvPr id="38" name="Shape 2">
            <a:extLst>
              <a:ext uri="{FF2B5EF4-FFF2-40B4-BE49-F238E27FC236}">
                <a16:creationId xmlns:a16="http://schemas.microsoft.com/office/drawing/2014/main" id="{AD8F6E1B-8BFF-46A8-0D2E-B1B0B9448A88}"/>
              </a:ext>
            </a:extLst>
          </p:cNvPr>
          <p:cNvSpPr/>
          <p:nvPr/>
        </p:nvSpPr>
        <p:spPr>
          <a:xfrm>
            <a:off x="6064210" y="1556264"/>
            <a:ext cx="2697480" cy="25603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8F1F3"/>
            </a:solidFill>
            <a:prstDash val="solid"/>
          </a:ln>
          <a:effectLst>
            <a:outerShdw blurRad="101600" dist="25400" dir="5400000" algn="bl" rotWithShape="0">
              <a:srgbClr val="9BB0B6">
                <a:alpha val="32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39" name="Shape 3">
            <a:extLst>
              <a:ext uri="{FF2B5EF4-FFF2-40B4-BE49-F238E27FC236}">
                <a16:creationId xmlns:a16="http://schemas.microsoft.com/office/drawing/2014/main" id="{70E78D95-C4DF-9B75-1687-8B4F1F7C329E}"/>
              </a:ext>
            </a:extLst>
          </p:cNvPr>
          <p:cNvSpPr/>
          <p:nvPr/>
        </p:nvSpPr>
        <p:spPr>
          <a:xfrm>
            <a:off x="7047190" y="1662424"/>
            <a:ext cx="731520" cy="731520"/>
          </a:xfrm>
          <a:prstGeom prst="ellipse">
            <a:avLst/>
          </a:prstGeom>
          <a:solidFill>
            <a:srgbClr val="F26C5A"/>
          </a:solidFill>
          <a:ln/>
        </p:spPr>
        <p:txBody>
          <a:bodyPr/>
          <a:lstStyle/>
          <a:p>
            <a:endParaRPr lang="it-IT" dirty="0"/>
          </a:p>
        </p:txBody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975B3F62-4056-0755-5AFE-A0A65DB09D28}"/>
              </a:ext>
            </a:extLst>
          </p:cNvPr>
          <p:cNvSpPr/>
          <p:nvPr/>
        </p:nvSpPr>
        <p:spPr>
          <a:xfrm>
            <a:off x="7049835" y="166019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2A268F53-8C70-4C17-2CB9-E614443A235A}"/>
              </a:ext>
            </a:extLst>
          </p:cNvPr>
          <p:cNvSpPr/>
          <p:nvPr/>
        </p:nvSpPr>
        <p:spPr>
          <a:xfrm>
            <a:off x="6569916" y="2743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Displaced</a:t>
            </a:r>
            <a:endParaRPr lang="en-US" sz="1800" dirty="0"/>
          </a:p>
        </p:txBody>
      </p:sp>
      <p:sp>
        <p:nvSpPr>
          <p:cNvPr id="42" name="Shape 2">
            <a:extLst>
              <a:ext uri="{FF2B5EF4-FFF2-40B4-BE49-F238E27FC236}">
                <a16:creationId xmlns:a16="http://schemas.microsoft.com/office/drawing/2014/main" id="{6EAD5D77-5A31-28E6-E663-1A4A91E9BD88}"/>
              </a:ext>
            </a:extLst>
          </p:cNvPr>
          <p:cNvSpPr/>
          <p:nvPr/>
        </p:nvSpPr>
        <p:spPr>
          <a:xfrm>
            <a:off x="8823960" y="1556264"/>
            <a:ext cx="2697480" cy="25603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8F1F3"/>
            </a:solidFill>
            <a:prstDash val="solid"/>
          </a:ln>
          <a:effectLst>
            <a:outerShdw blurRad="101600" dist="25400" dir="5400000" algn="bl" rotWithShape="0">
              <a:srgbClr val="9BB0B6">
                <a:alpha val="32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43" name="Shape 3">
            <a:extLst>
              <a:ext uri="{FF2B5EF4-FFF2-40B4-BE49-F238E27FC236}">
                <a16:creationId xmlns:a16="http://schemas.microsoft.com/office/drawing/2014/main" id="{FCDDD39A-1F1C-20B6-74AA-3DC23BEBF9EB}"/>
              </a:ext>
            </a:extLst>
          </p:cNvPr>
          <p:cNvSpPr/>
          <p:nvPr/>
        </p:nvSpPr>
        <p:spPr>
          <a:xfrm>
            <a:off x="9806940" y="1662424"/>
            <a:ext cx="731520" cy="731520"/>
          </a:xfrm>
          <a:prstGeom prst="ellipse">
            <a:avLst/>
          </a:prstGeom>
          <a:solidFill>
            <a:srgbClr val="F26C5A"/>
          </a:solidFill>
          <a:ln/>
        </p:spPr>
        <p:txBody>
          <a:bodyPr/>
          <a:lstStyle/>
          <a:p>
            <a:endParaRPr lang="it-IT" dirty="0"/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FB85EE9D-390F-2C3B-05AA-82FF681F4B25}"/>
              </a:ext>
            </a:extLst>
          </p:cNvPr>
          <p:cNvSpPr/>
          <p:nvPr/>
        </p:nvSpPr>
        <p:spPr>
          <a:xfrm>
            <a:off x="9809585" y="166019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5" name="Text 5">
            <a:extLst>
              <a:ext uri="{FF2B5EF4-FFF2-40B4-BE49-F238E27FC236}">
                <a16:creationId xmlns:a16="http://schemas.microsoft.com/office/drawing/2014/main" id="{398DA072-CED3-E687-A5EB-5DF94B67233F}"/>
              </a:ext>
            </a:extLst>
          </p:cNvPr>
          <p:cNvSpPr/>
          <p:nvPr/>
        </p:nvSpPr>
        <p:spPr>
          <a:xfrm>
            <a:off x="9329666" y="2743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Segmental</a:t>
            </a:r>
            <a:endParaRPr lang="en-US" sz="1800" dirty="0"/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AF543D8F-C773-D0BA-1A8F-14AECBBBCFDC}"/>
              </a:ext>
            </a:extLst>
          </p:cNvPr>
          <p:cNvSpPr txBox="1"/>
          <p:nvPr/>
        </p:nvSpPr>
        <p:spPr>
          <a:xfrm>
            <a:off x="777240" y="3153891"/>
            <a:ext cx="22596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>
                <a:latin typeface="Cambria" panose="02040503050406030204" pitchFamily="18" charset="0"/>
              </a:rPr>
              <a:t>Deformazione da compressione</a:t>
            </a:r>
          </a:p>
        </p:txBody>
      </p: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5F348E8B-060E-DBAD-BA50-45AEE53A7449}"/>
              </a:ext>
            </a:extLst>
          </p:cNvPr>
          <p:cNvSpPr txBox="1"/>
          <p:nvPr/>
        </p:nvSpPr>
        <p:spPr>
          <a:xfrm>
            <a:off x="3737886" y="3152001"/>
            <a:ext cx="18317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latin typeface="Cambria" panose="02040503050406030204" pitchFamily="18" charset="0"/>
              </a:rPr>
              <a:t>Frammenti ossei allineati</a:t>
            </a:r>
          </a:p>
        </p:txBody>
      </p:sp>
      <p:sp>
        <p:nvSpPr>
          <p:cNvPr id="56" name="CasellaDiTesto 55">
            <a:extLst>
              <a:ext uri="{FF2B5EF4-FFF2-40B4-BE49-F238E27FC236}">
                <a16:creationId xmlns:a16="http://schemas.microsoft.com/office/drawing/2014/main" id="{1BEFDACE-23B2-216F-ADE0-F896A9312FCF}"/>
              </a:ext>
            </a:extLst>
          </p:cNvPr>
          <p:cNvSpPr txBox="1"/>
          <p:nvPr/>
        </p:nvSpPr>
        <p:spPr>
          <a:xfrm>
            <a:off x="6392093" y="3146761"/>
            <a:ext cx="2041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>
                <a:latin typeface="Cambria" panose="02040503050406030204" pitchFamily="18" charset="0"/>
              </a:rPr>
              <a:t>Frammenti ossei disallineati</a:t>
            </a:r>
          </a:p>
        </p:txBody>
      </p:sp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A4F26E37-C4BF-7748-F2BB-7C647FACFF53}"/>
              </a:ext>
            </a:extLst>
          </p:cNvPr>
          <p:cNvSpPr txBox="1"/>
          <p:nvPr/>
        </p:nvSpPr>
        <p:spPr>
          <a:xfrm>
            <a:off x="9055054" y="3153891"/>
            <a:ext cx="2235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>
                <a:latin typeface="Cambria" panose="02040503050406030204" pitchFamily="18" charset="0"/>
              </a:rPr>
              <a:t>Doppia frattura con frammento</a:t>
            </a:r>
          </a:p>
          <a:p>
            <a:pPr algn="ctr"/>
            <a:r>
              <a:rPr lang="it-IT" sz="1200" dirty="0">
                <a:latin typeface="Cambria" panose="02040503050406030204" pitchFamily="18" charset="0"/>
              </a:rPr>
              <a:t>isolato</a:t>
            </a:r>
          </a:p>
        </p:txBody>
      </p:sp>
      <p:sp>
        <p:nvSpPr>
          <p:cNvPr id="60" name="Shape 3">
            <a:extLst>
              <a:ext uri="{FF2B5EF4-FFF2-40B4-BE49-F238E27FC236}">
                <a16:creationId xmlns:a16="http://schemas.microsoft.com/office/drawing/2014/main" id="{91F008B2-0889-A4C1-8C63-0664536ACADB}"/>
              </a:ext>
            </a:extLst>
          </p:cNvPr>
          <p:cNvSpPr/>
          <p:nvPr/>
        </p:nvSpPr>
        <p:spPr>
          <a:xfrm>
            <a:off x="545854" y="4333697"/>
            <a:ext cx="5456658" cy="457200"/>
          </a:xfrm>
          <a:prstGeom prst="roundRect">
            <a:avLst>
              <a:gd name="adj" fmla="val 7059"/>
            </a:avLst>
          </a:prstGeom>
          <a:solidFill>
            <a:srgbClr val="0E2A33"/>
          </a:solidFill>
          <a:ln/>
        </p:spPr>
        <p:txBody>
          <a:bodyPr/>
          <a:lstStyle/>
          <a:p>
            <a:pPr algn="ctr"/>
            <a:r>
              <a:rPr lang="it-IT" dirty="0">
                <a:solidFill>
                  <a:schemeClr val="bg1"/>
                </a:solidFill>
                <a:latin typeface="Cambria" panose="02040503050406030204" pitchFamily="18" charset="0"/>
              </a:rPr>
              <a:t>Approccio conservativo</a:t>
            </a:r>
          </a:p>
        </p:txBody>
      </p:sp>
      <p:sp>
        <p:nvSpPr>
          <p:cNvPr id="61" name="Shape 12">
            <a:extLst>
              <a:ext uri="{FF2B5EF4-FFF2-40B4-BE49-F238E27FC236}">
                <a16:creationId xmlns:a16="http://schemas.microsoft.com/office/drawing/2014/main" id="{FE4FF8B4-D32E-5EBB-5D13-03C3A44980E5}"/>
              </a:ext>
            </a:extLst>
          </p:cNvPr>
          <p:cNvSpPr/>
          <p:nvPr/>
        </p:nvSpPr>
        <p:spPr>
          <a:xfrm>
            <a:off x="6063840" y="4333364"/>
            <a:ext cx="5457600" cy="457200"/>
          </a:xfrm>
          <a:prstGeom prst="roundRect">
            <a:avLst>
              <a:gd name="adj" fmla="val 7059"/>
            </a:avLst>
          </a:prstGeom>
          <a:solidFill>
            <a:srgbClr val="F26C5A"/>
          </a:solidFill>
          <a:ln/>
        </p:spPr>
        <p:txBody>
          <a:bodyPr/>
          <a:lstStyle/>
          <a:p>
            <a:pPr algn="ctr"/>
            <a:r>
              <a:rPr lang="it-IT" dirty="0">
                <a:solidFill>
                  <a:schemeClr val="bg1"/>
                </a:solidFill>
                <a:latin typeface="Cambria" panose="02040503050406030204" pitchFamily="18" charset="0"/>
              </a:rPr>
              <a:t>Fissazione chirurgica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48640" y="116767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RibFrac Challenge (MICCAI 2020)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0E2A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25786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TC </a:t>
            </a:r>
            <a:r>
              <a:rPr lang="en-US" sz="1250" dirty="0" err="1">
                <a:solidFill>
                  <a:srgbClr val="2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37560" y="155448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0E2A33"/>
          </a:solidFill>
          <a:ln/>
        </p:spPr>
        <p:txBody>
          <a:bodyPr/>
          <a:lstStyle/>
          <a:p>
            <a:endParaRPr lang="it-IT" dirty="0"/>
          </a:p>
        </p:txBody>
      </p:sp>
      <p:sp>
        <p:nvSpPr>
          <p:cNvPr id="9" name="Text 7"/>
          <p:cNvSpPr/>
          <p:nvPr/>
        </p:nvSpPr>
        <p:spPr>
          <a:xfrm>
            <a:off x="3337560" y="17373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44,8%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337560" y="25786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429000"/>
            <a:ext cx="548640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8F1F3"/>
            </a:solidFill>
            <a:prstDash val="solid"/>
          </a:ln>
          <a:effectLst>
            <a:outerShdw blurRad="101600" dist="25400" dir="5400000" algn="bl" rotWithShape="0">
              <a:srgbClr val="9BB0B6">
                <a:alpha val="32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18" name="Text 16"/>
          <p:cNvSpPr/>
          <p:nvPr/>
        </p:nvSpPr>
        <p:spPr>
          <a:xfrm>
            <a:off x="762000" y="3624251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</a:t>
            </a:r>
            <a:r>
              <a:rPr lang="en-US" sz="1800" b="1" dirty="0" err="1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dei</a:t>
            </a:r>
            <a:r>
              <a:rPr lang="en-US" sz="18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800" b="1" dirty="0" err="1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dati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2960" y="4142232"/>
            <a:ext cx="201168" cy="201168"/>
          </a:xfrm>
          <a:prstGeom prst="ellipse">
            <a:avLst/>
          </a:prstGeom>
          <a:solidFill>
            <a:srgbClr val="0F5B6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1252728" y="4114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84F"/>
                </a:solidFill>
                <a:latin typeface="Cambria" panose="02040503050406030204" pitchFamily="18" charset="0"/>
                <a:cs typeface="Calibri" pitchFamily="34" charset="-120"/>
              </a:rPr>
              <a:t>Training</a:t>
            </a:r>
          </a:p>
        </p:txBody>
      </p:sp>
      <p:sp>
        <p:nvSpPr>
          <p:cNvPr id="21" name="Text 19"/>
          <p:cNvSpPr/>
          <p:nvPr/>
        </p:nvSpPr>
        <p:spPr>
          <a:xfrm>
            <a:off x="3520440" y="4114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84F"/>
                </a:solidFill>
                <a:latin typeface="Cambria" panose="02040503050406030204" pitchFamily="18" charset="0"/>
                <a:cs typeface="Calibri" pitchFamily="34" charset="-120"/>
              </a:rPr>
              <a:t>420 TC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22960" y="4709160"/>
            <a:ext cx="201168" cy="201168"/>
          </a:xfrm>
          <a:prstGeom prst="ellipse">
            <a:avLst/>
          </a:prstGeom>
          <a:solidFill>
            <a:srgbClr val="2FB6C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1252728" y="4663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84F"/>
                </a:solidFill>
                <a:latin typeface="Cambria" panose="02040503050406030204" pitchFamily="18" charset="0"/>
                <a:cs typeface="Calibri" pitchFamily="34" charset="-120"/>
              </a:rPr>
              <a:t>Validation</a:t>
            </a:r>
          </a:p>
        </p:txBody>
      </p:sp>
      <p:sp>
        <p:nvSpPr>
          <p:cNvPr id="24" name="Text 22"/>
          <p:cNvSpPr/>
          <p:nvPr/>
        </p:nvSpPr>
        <p:spPr>
          <a:xfrm>
            <a:off x="3520440" y="4658061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84F"/>
                </a:solidFill>
                <a:latin typeface="Cambria" panose="02040503050406030204" pitchFamily="18" charset="0"/>
                <a:cs typeface="Calibri" pitchFamily="34" charset="-120"/>
              </a:rPr>
              <a:t>80 TC</a:t>
            </a:r>
          </a:p>
        </p:txBody>
      </p:sp>
      <p:sp>
        <p:nvSpPr>
          <p:cNvPr id="25" name="Shape 23"/>
          <p:cNvSpPr/>
          <p:nvPr/>
        </p:nvSpPr>
        <p:spPr>
          <a:xfrm>
            <a:off x="822960" y="5276088"/>
            <a:ext cx="201168" cy="201168"/>
          </a:xfrm>
          <a:prstGeom prst="ellipse">
            <a:avLst/>
          </a:prstGeom>
          <a:solidFill>
            <a:srgbClr val="F26C5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1252728" y="52303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33484F"/>
                </a:solidFill>
                <a:latin typeface="Cambria" panose="02040503050406030204" pitchFamily="18" charset="0"/>
                <a:cs typeface="Calibri" pitchFamily="34" charset="-120"/>
              </a:rPr>
              <a:t>Test</a:t>
            </a:r>
          </a:p>
        </p:txBody>
      </p:sp>
      <p:sp>
        <p:nvSpPr>
          <p:cNvPr id="27" name="Text 25"/>
          <p:cNvSpPr/>
          <p:nvPr/>
        </p:nvSpPr>
        <p:spPr>
          <a:xfrm>
            <a:off x="3520440" y="5227679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84F"/>
                </a:solidFill>
                <a:latin typeface="Cambria" panose="02040503050406030204" pitchFamily="18" charset="0"/>
                <a:cs typeface="Calibri" pitchFamily="34" charset="-120"/>
              </a:rPr>
              <a:t>160 TC</a:t>
            </a:r>
          </a:p>
        </p:txBody>
      </p:sp>
      <p:sp>
        <p:nvSpPr>
          <p:cNvPr id="28" name="Shape 26"/>
          <p:cNvSpPr/>
          <p:nvPr/>
        </p:nvSpPr>
        <p:spPr>
          <a:xfrm>
            <a:off x="6263640" y="1554480"/>
            <a:ext cx="5349240" cy="4572000"/>
          </a:xfrm>
          <a:prstGeom prst="roundRect">
            <a:avLst>
              <a:gd name="adj" fmla="val 4068"/>
            </a:avLst>
          </a:prstGeom>
          <a:solidFill>
            <a:srgbClr val="E8F1F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6469380" y="16902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Caratteristiche</a:t>
            </a:r>
            <a:r>
              <a:rPr lang="en-US" sz="18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del dataset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492240" y="2077068"/>
            <a:ext cx="4937760" cy="3866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8000"/>
              </a:lnSpc>
            </a:pPr>
            <a:r>
              <a:rPr lang="en-US" sz="1400" dirty="0">
                <a:solidFill>
                  <a:srgbClr val="0E2A33"/>
                </a:solidFill>
                <a:latin typeface="Calibri" pitchFamily="34" charset="0"/>
                <a:cs typeface="Calibri" pitchFamily="34" charset="-120"/>
              </a:rPr>
              <a:t>• </a:t>
            </a:r>
            <a:r>
              <a:rPr lang="it-IT" sz="1400" b="1" dirty="0">
                <a:solidFill>
                  <a:srgbClr val="0E2A33"/>
                </a:solidFill>
                <a:latin typeface="Cambria" panose="02040503050406030204" pitchFamily="18" charset="0"/>
                <a:cs typeface="Calibri" pitchFamily="34" charset="-120"/>
              </a:rPr>
              <a:t>Formato dei dati</a:t>
            </a:r>
            <a:r>
              <a:rPr lang="it-IT" sz="1400" dirty="0">
                <a:solidFill>
                  <a:srgbClr val="0E2A33"/>
                </a:solidFill>
                <a:latin typeface="Cambria" panose="02040503050406030204" pitchFamily="18" charset="0"/>
                <a:cs typeface="Calibri" pitchFamily="34" charset="-120"/>
              </a:rPr>
              <a:t>: per ogni paziente sono forniti il volume TC e una maschera di segmentazione in formato </a:t>
            </a:r>
            <a:r>
              <a:rPr lang="it-IT" sz="1400" dirty="0" err="1">
                <a:solidFill>
                  <a:srgbClr val="0E2A33"/>
                </a:solidFill>
                <a:latin typeface="Cambria" panose="02040503050406030204" pitchFamily="18" charset="0"/>
                <a:cs typeface="Calibri" pitchFamily="34" charset="-120"/>
              </a:rPr>
              <a:t>NIfTI</a:t>
            </a:r>
            <a:r>
              <a:rPr lang="it-IT" sz="1400" dirty="0">
                <a:solidFill>
                  <a:srgbClr val="0E2A33"/>
                </a:solidFill>
                <a:latin typeface="Cambria" panose="02040503050406030204" pitchFamily="18" charset="0"/>
                <a:cs typeface="Calibri" pitchFamily="34" charset="-120"/>
              </a:rPr>
              <a:t>, in cui ogni valore intero identifica una singola istanza di frattura</a:t>
            </a:r>
          </a:p>
          <a:p>
            <a:pPr>
              <a:lnSpc>
                <a:spcPct val="128000"/>
              </a:lnSpc>
            </a:pPr>
            <a:endParaRPr lang="en-US" sz="1400" dirty="0">
              <a:solidFill>
                <a:srgbClr val="0E2A33"/>
              </a:solidFill>
              <a:latin typeface="Cambria" panose="02040503050406030204" pitchFamily="18" charset="0"/>
              <a:cs typeface="Calibri" pitchFamily="34" charset="-120"/>
            </a:endParaRPr>
          </a:p>
          <a:p>
            <a:pPr>
              <a:lnSpc>
                <a:spcPct val="128000"/>
              </a:lnSpc>
            </a:pPr>
            <a:r>
              <a:rPr lang="en-US" sz="1400" dirty="0">
                <a:solidFill>
                  <a:srgbClr val="0E2A33"/>
                </a:solidFill>
                <a:latin typeface="Cambria" panose="02040503050406030204" pitchFamily="18" charset="0"/>
                <a:cs typeface="Calibri" pitchFamily="34" charset="-120"/>
              </a:rPr>
              <a:t>• </a:t>
            </a:r>
            <a:r>
              <a:rPr lang="it-IT" sz="1400" b="1" dirty="0">
                <a:solidFill>
                  <a:srgbClr val="0E2A33"/>
                </a:solidFill>
                <a:latin typeface="Cambria" panose="02040503050406030204" pitchFamily="18" charset="0"/>
                <a:cs typeface="Calibri" pitchFamily="34" charset="-120"/>
              </a:rPr>
              <a:t>Annotazioni</a:t>
            </a:r>
            <a:r>
              <a:rPr lang="it-IT" sz="1400" dirty="0">
                <a:solidFill>
                  <a:srgbClr val="0E2A33"/>
                </a:solidFill>
                <a:latin typeface="Cambria" panose="02040503050406030204" pitchFamily="18" charset="0"/>
                <a:cs typeface="Calibri" pitchFamily="34" charset="-120"/>
              </a:rPr>
              <a:t>: per ciascuna frattura sono disponibili il tipo clinico (Buckle, Non-</a:t>
            </a:r>
            <a:r>
              <a:rPr lang="it-IT" sz="1400" dirty="0" err="1">
                <a:solidFill>
                  <a:srgbClr val="0E2A33"/>
                </a:solidFill>
                <a:latin typeface="Cambria" panose="02040503050406030204" pitchFamily="18" charset="0"/>
                <a:cs typeface="Calibri" pitchFamily="34" charset="-120"/>
              </a:rPr>
              <a:t>displaced</a:t>
            </a:r>
            <a:r>
              <a:rPr lang="it-IT" sz="1400" dirty="0">
                <a:solidFill>
                  <a:srgbClr val="0E2A33"/>
                </a:solidFill>
                <a:latin typeface="Cambria" panose="02040503050406030204" pitchFamily="18" charset="0"/>
                <a:cs typeface="Calibri" pitchFamily="34" charset="-120"/>
              </a:rPr>
              <a:t>, </a:t>
            </a:r>
            <a:r>
              <a:rPr lang="it-IT" sz="1400" dirty="0" err="1">
                <a:solidFill>
                  <a:srgbClr val="0E2A33"/>
                </a:solidFill>
                <a:latin typeface="Cambria" panose="02040503050406030204" pitchFamily="18" charset="0"/>
                <a:cs typeface="Calibri" pitchFamily="34" charset="-120"/>
              </a:rPr>
              <a:t>Displaced</a:t>
            </a:r>
            <a:r>
              <a:rPr lang="it-IT" sz="1400" dirty="0">
                <a:solidFill>
                  <a:srgbClr val="0E2A33"/>
                </a:solidFill>
                <a:latin typeface="Cambria" panose="02040503050406030204" pitchFamily="18" charset="0"/>
                <a:cs typeface="Calibri" pitchFamily="34" charset="-120"/>
              </a:rPr>
              <a:t>, </a:t>
            </a:r>
            <a:r>
              <a:rPr lang="it-IT" sz="1400" dirty="0" err="1">
                <a:solidFill>
                  <a:srgbClr val="0E2A33"/>
                </a:solidFill>
                <a:latin typeface="Cambria" panose="02040503050406030204" pitchFamily="18" charset="0"/>
                <a:cs typeface="Calibri" pitchFamily="34" charset="-120"/>
              </a:rPr>
              <a:t>Segmental</a:t>
            </a:r>
            <a:r>
              <a:rPr lang="it-IT" sz="1400" dirty="0">
                <a:solidFill>
                  <a:srgbClr val="0E2A33"/>
                </a:solidFill>
                <a:latin typeface="Cambria" panose="02040503050406030204" pitchFamily="18" charset="0"/>
                <a:cs typeface="Calibri" pitchFamily="34" charset="-120"/>
              </a:rPr>
              <a:t>) e le informazioni di localizzazione</a:t>
            </a:r>
          </a:p>
          <a:p>
            <a:pPr>
              <a:lnSpc>
                <a:spcPct val="128000"/>
              </a:lnSpc>
            </a:pPr>
            <a:endParaRPr lang="it-IT" sz="1400" dirty="0">
              <a:solidFill>
                <a:srgbClr val="0E2A33"/>
              </a:solidFill>
              <a:latin typeface="Cambria" panose="02040503050406030204" pitchFamily="18" charset="0"/>
              <a:cs typeface="Calibri" pitchFamily="34" charset="-120"/>
            </a:endParaRPr>
          </a:p>
          <a:p>
            <a:pPr>
              <a:lnSpc>
                <a:spcPct val="128000"/>
              </a:lnSpc>
            </a:pPr>
            <a:r>
              <a:rPr lang="en-US" sz="1400" dirty="0">
                <a:solidFill>
                  <a:srgbClr val="0E2A33"/>
                </a:solidFill>
                <a:latin typeface="Cambria" panose="02040503050406030204" pitchFamily="18" charset="0"/>
                <a:cs typeface="Calibri" pitchFamily="34" charset="-120"/>
              </a:rPr>
              <a:t>• </a:t>
            </a:r>
            <a:r>
              <a:rPr lang="it-IT" sz="1400" b="1" dirty="0">
                <a:solidFill>
                  <a:srgbClr val="0E2A33"/>
                </a:solidFill>
                <a:latin typeface="Cambria" panose="02040503050406030204" pitchFamily="18" charset="0"/>
                <a:cs typeface="Calibri" pitchFamily="34" charset="-120"/>
              </a:rPr>
              <a:t>Test set non disponibile</a:t>
            </a:r>
            <a:r>
              <a:rPr lang="it-IT" sz="1400" dirty="0">
                <a:solidFill>
                  <a:srgbClr val="0E2A33"/>
                </a:solidFill>
                <a:latin typeface="Cambria" panose="02040503050406030204" pitchFamily="18" charset="0"/>
                <a:cs typeface="Calibri" pitchFamily="34" charset="-120"/>
              </a:rPr>
              <a:t>: le etichette del test set non sono state rilasciate pubblicamente dagli organizzatori, quindi sono state considerate solo le TC appartenenti a training e </a:t>
            </a:r>
            <a:r>
              <a:rPr lang="it-IT" sz="1400" dirty="0" err="1">
                <a:solidFill>
                  <a:srgbClr val="0E2A33"/>
                </a:solidFill>
                <a:latin typeface="Cambria" panose="02040503050406030204" pitchFamily="18" charset="0"/>
                <a:cs typeface="Calibri" pitchFamily="34" charset="-120"/>
              </a:rPr>
              <a:t>validation</a:t>
            </a:r>
            <a:r>
              <a:rPr lang="it-IT" sz="1400" dirty="0">
                <a:solidFill>
                  <a:srgbClr val="0E2A33"/>
                </a:solidFill>
                <a:latin typeface="Cambria" panose="02040503050406030204" pitchFamily="18" charset="0"/>
                <a:cs typeface="Calibri" pitchFamily="34" charset="-120"/>
              </a:rPr>
              <a:t> set (500 TC, 1847 fratture classificabili)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A53826-FF30-DB11-E975-9538F6DA5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0423157-12C3-9975-9F7D-28B46815C0F0}"/>
              </a:ext>
            </a:extLst>
          </p:cNvPr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F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CE17944-B0DD-053A-422B-BF03A01D0B9A}"/>
              </a:ext>
            </a:extLst>
          </p:cNvPr>
          <p:cNvSpPr/>
          <p:nvPr/>
        </p:nvSpPr>
        <p:spPr>
          <a:xfrm>
            <a:off x="548640" y="713232"/>
            <a:ext cx="10972800" cy="767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Panoramica</a:t>
            </a:r>
            <a:r>
              <a:rPr lang="en-US" sz="30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del </a:t>
            </a:r>
          </a:p>
          <a:p>
            <a:pPr marL="0" indent="0">
              <a:buNone/>
            </a:pPr>
            <a:r>
              <a:rPr lang="en-US" sz="30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3585B59E-8F59-8FBF-4879-7C698A74A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5642" y="192024"/>
            <a:ext cx="6716358" cy="6127605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0AB8C466-6CAA-2965-CCF9-45DC18FEFC61}"/>
              </a:ext>
            </a:extLst>
          </p:cNvPr>
          <p:cNvSpPr txBox="1"/>
          <p:nvPr/>
        </p:nvSpPr>
        <p:spPr>
          <a:xfrm>
            <a:off x="548640" y="2001665"/>
            <a:ext cx="4927002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latin typeface="Cambria" panose="02040503050406030204" pitchFamily="18" charset="0"/>
              </a:rPr>
              <a:t>Il workflow si articola in cinque fasi principali:</a:t>
            </a:r>
          </a:p>
          <a:p>
            <a:endParaRPr lang="it-IT" sz="1400" dirty="0">
              <a:latin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latin typeface="Cambria" panose="02040503050406030204" pitchFamily="18" charset="0"/>
              </a:rPr>
              <a:t>Per ogni frattura vengono estratti un sotto-volume TC e una mesh 3D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dirty="0">
              <a:latin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latin typeface="Cambria" panose="02040503050406030204" pitchFamily="18" charset="0"/>
              </a:rPr>
              <a:t>Quattro famiglie di feature vengono calcolate (geometriche, di intensità, radiomiche e deep </a:t>
            </a:r>
            <a:r>
              <a:rPr lang="it-IT" sz="1400" dirty="0" err="1">
                <a:latin typeface="Cambria" panose="02040503050406030204" pitchFamily="18" charset="0"/>
              </a:rPr>
              <a:t>embeddings</a:t>
            </a:r>
            <a:r>
              <a:rPr lang="it-IT" sz="1400" dirty="0">
                <a:latin typeface="Cambria" panose="02040503050406030204" pitchFamily="18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dirty="0">
              <a:latin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latin typeface="Cambria" panose="02040503050406030204" pitchFamily="18" charset="0"/>
              </a:rPr>
              <a:t>Selezione e normalizzazione delle features tramite cross-</a:t>
            </a:r>
            <a:r>
              <a:rPr lang="it-IT" sz="1400" dirty="0" err="1">
                <a:latin typeface="Cambria" panose="02040503050406030204" pitchFamily="18" charset="0"/>
              </a:rPr>
              <a:t>validation</a:t>
            </a:r>
            <a:r>
              <a:rPr lang="it-IT" sz="1400" dirty="0">
                <a:latin typeface="Cambria" panose="02040503050406030204" pitchFamily="18" charset="0"/>
              </a:rPr>
              <a:t> a livello paziente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dirty="0">
              <a:latin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latin typeface="Cambria" panose="02040503050406030204" pitchFamily="18" charset="0"/>
              </a:rPr>
              <a:t>Produzione di una predizione da parte del classificatore </a:t>
            </a:r>
            <a:r>
              <a:rPr lang="it-IT" sz="1400" dirty="0" err="1">
                <a:latin typeface="Cambria" panose="02040503050406030204" pitchFamily="18" charset="0"/>
              </a:rPr>
              <a:t>XGBoost</a:t>
            </a:r>
            <a:r>
              <a:rPr lang="it-IT" sz="1400" dirty="0">
                <a:latin typeface="Cambria" panose="02040503050406030204" pitchFamily="18" charset="0"/>
              </a:rPr>
              <a:t> per ciascuna frattura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dirty="0">
              <a:latin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latin typeface="Cambria" panose="02040503050406030204" pitchFamily="18" charset="0"/>
              </a:rPr>
              <a:t>Risultati visualizzati nell'interfaccia Unity 3D</a:t>
            </a:r>
          </a:p>
          <a:p>
            <a:endParaRPr lang="it-IT" sz="14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510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737360"/>
            <a:ext cx="5120640" cy="5120640"/>
          </a:xfrm>
          <a:prstGeom prst="ellipse">
            <a:avLst/>
          </a:prstGeom>
          <a:solidFill>
            <a:srgbClr val="0F5B6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10607040" y="3657600"/>
            <a:ext cx="2926080" cy="2926080"/>
          </a:xfrm>
          <a:prstGeom prst="ellipse">
            <a:avLst/>
          </a:prstGeom>
          <a:solidFill>
            <a:srgbClr val="2FB6C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1371600" cy="1371600"/>
          </a:xfrm>
          <a:prstGeom prst="ellipse">
            <a:avLst/>
          </a:prstGeom>
          <a:solidFill>
            <a:srgbClr val="F26C5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20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>
                <a:solidFill>
                  <a:srgbClr val="2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2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685800" y="333756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Mesh &amp; volume extraction</a:t>
            </a:r>
            <a:endParaRPr lang="en-US" sz="4000"/>
          </a:p>
        </p:txBody>
      </p:sp>
      <p:sp>
        <p:nvSpPr>
          <p:cNvPr id="8" name="Text 6"/>
          <p:cNvSpPr/>
          <p:nvPr/>
        </p:nvSpPr>
        <p:spPr>
          <a:xfrm>
            <a:off x="731520" y="50292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0907" y="58360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000" b="1" dirty="0">
              <a:solidFill>
                <a:srgbClr val="0E2A33"/>
              </a:solidFill>
              <a:latin typeface="Cambria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15112" y="2194559"/>
            <a:ext cx="2548128" cy="3087445"/>
          </a:xfrm>
          <a:prstGeom prst="roundRect">
            <a:avLst>
              <a:gd name="adj" fmla="val 5000"/>
            </a:avLst>
          </a:prstGeom>
          <a:solidFill>
            <a:srgbClr val="143842"/>
          </a:solidFill>
          <a:ln w="12700">
            <a:solidFill>
              <a:srgbClr val="27505C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4" name="Shape 2"/>
          <p:cNvSpPr/>
          <p:nvPr/>
        </p:nvSpPr>
        <p:spPr>
          <a:xfrm>
            <a:off x="1392174" y="1801906"/>
            <a:ext cx="822960" cy="822960"/>
          </a:xfrm>
          <a:prstGeom prst="ellipse">
            <a:avLst/>
          </a:prstGeom>
          <a:solidFill>
            <a:srgbClr val="2FB6C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394460" y="18059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5320" y="2628900"/>
            <a:ext cx="2240280" cy="1440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TC in </a:t>
            </a:r>
            <a:r>
              <a:rPr lang="en-US" sz="1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formato</a:t>
            </a: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NIfTI</a:t>
            </a: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Maschera </a:t>
            </a:r>
            <a:r>
              <a:rPr lang="en-US" sz="1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74904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35808" y="2194560"/>
            <a:ext cx="457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2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/>
          </a:p>
        </p:txBody>
      </p:sp>
      <p:sp>
        <p:nvSpPr>
          <p:cNvPr id="9" name="Shape 7"/>
          <p:cNvSpPr/>
          <p:nvPr/>
        </p:nvSpPr>
        <p:spPr>
          <a:xfrm>
            <a:off x="3395472" y="2194559"/>
            <a:ext cx="2548128" cy="3087445"/>
          </a:xfrm>
          <a:prstGeom prst="roundRect">
            <a:avLst>
              <a:gd name="adj" fmla="val 5000"/>
            </a:avLst>
          </a:prstGeom>
          <a:solidFill>
            <a:srgbClr val="143842"/>
          </a:solidFill>
          <a:ln w="12700">
            <a:solidFill>
              <a:srgbClr val="27505C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0" name="Shape 8"/>
          <p:cNvSpPr/>
          <p:nvPr/>
        </p:nvSpPr>
        <p:spPr>
          <a:xfrm>
            <a:off x="4290822" y="1801906"/>
            <a:ext cx="822960" cy="822960"/>
          </a:xfrm>
          <a:prstGeom prst="ellipse">
            <a:avLst/>
          </a:prstGeom>
          <a:solidFill>
            <a:srgbClr val="2FB6C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313682" y="180190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66160" y="27432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</a:rPr>
              <a:t>Maschera </a:t>
            </a:r>
            <a:r>
              <a:rPr lang="en-US" sz="1500" b="1" dirty="0" err="1">
                <a:solidFill>
                  <a:srgbClr val="FFFFFF"/>
                </a:solidFill>
                <a:latin typeface="Cambria" pitchFamily="34" charset="0"/>
              </a:rPr>
              <a:t>binaria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66160" y="329184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lang="it-IT" sz="1400" dirty="0">
                <a:solidFill>
                  <a:srgbClr val="E8F1F3"/>
                </a:solidFill>
                <a:latin typeface="Cambria" panose="02040503050406030204" pitchFamily="18" charset="0"/>
                <a:cs typeface="Calibri" pitchFamily="34" charset="-120"/>
              </a:rPr>
              <a:t>Isolamento</a:t>
            </a:r>
          </a:p>
          <a:p>
            <a:pPr algn="ctr">
              <a:lnSpc>
                <a:spcPct val="110000"/>
              </a:lnSpc>
            </a:pPr>
            <a:r>
              <a:rPr lang="it-IT" sz="1400" dirty="0">
                <a:solidFill>
                  <a:srgbClr val="E8F1F3"/>
                </a:solidFill>
                <a:latin typeface="Cambria" panose="02040503050406030204" pitchFamily="18" charset="0"/>
                <a:cs typeface="Calibri" pitchFamily="34" charset="-120"/>
              </a:rPr>
              <a:t>+</a:t>
            </a:r>
          </a:p>
          <a:p>
            <a:pPr algn="ctr">
              <a:lnSpc>
                <a:spcPct val="110000"/>
              </a:lnSpc>
            </a:pPr>
            <a:r>
              <a:rPr lang="it-IT" sz="1400" dirty="0" err="1">
                <a:solidFill>
                  <a:srgbClr val="E8F1F3"/>
                </a:solidFill>
                <a:latin typeface="Cambria" panose="02040503050406030204" pitchFamily="18" charset="0"/>
                <a:cs typeface="Calibri" pitchFamily="34" charset="-120"/>
              </a:rPr>
              <a:t>Bounding</a:t>
            </a:r>
            <a:r>
              <a:rPr lang="it-IT" sz="1400" dirty="0">
                <a:solidFill>
                  <a:srgbClr val="E8F1F3"/>
                </a:solidFill>
                <a:latin typeface="Cambria" panose="02040503050406030204" pitchFamily="18" charset="0"/>
                <a:cs typeface="Calibri" pitchFamily="34" charset="-120"/>
              </a:rPr>
              <a:t> box espanso di 5 voxel</a:t>
            </a:r>
          </a:p>
          <a:p>
            <a:pPr algn="ctr">
              <a:lnSpc>
                <a:spcPct val="110000"/>
              </a:lnSpc>
            </a:pPr>
            <a:r>
              <a:rPr lang="it-IT" sz="1400" dirty="0">
                <a:solidFill>
                  <a:srgbClr val="E8F1F3"/>
                </a:solidFill>
                <a:latin typeface="Cambria" panose="02040503050406030204" pitchFamily="18" charset="0"/>
                <a:cs typeface="Calibri" pitchFamily="34" charset="-120"/>
              </a:rPr>
              <a:t>+</a:t>
            </a:r>
          </a:p>
          <a:p>
            <a:pPr algn="ctr">
              <a:lnSpc>
                <a:spcPct val="110000"/>
              </a:lnSpc>
            </a:pPr>
            <a:r>
              <a:rPr lang="it-IT" sz="1400" dirty="0">
                <a:solidFill>
                  <a:srgbClr val="E8F1F3"/>
                </a:solidFill>
                <a:latin typeface="Cambria" panose="02040503050406030204" pitchFamily="18" charset="0"/>
                <a:cs typeface="Calibri" pitchFamily="34" charset="-120"/>
              </a:rPr>
              <a:t>Azzeramento voxel esterni a −1000 HU</a:t>
            </a:r>
            <a:endParaRPr lang="en-US" sz="1400" dirty="0">
              <a:solidFill>
                <a:srgbClr val="E8F1F3"/>
              </a:solidFill>
              <a:latin typeface="Cambria" panose="02040503050406030204" pitchFamily="18" charset="0"/>
              <a:cs typeface="Calibri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916168" y="2194560"/>
            <a:ext cx="457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2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/>
          </a:p>
        </p:txBody>
      </p:sp>
      <p:sp>
        <p:nvSpPr>
          <p:cNvPr id="15" name="Shape 13"/>
          <p:cNvSpPr/>
          <p:nvPr/>
        </p:nvSpPr>
        <p:spPr>
          <a:xfrm>
            <a:off x="6275832" y="2194559"/>
            <a:ext cx="2548128" cy="3087445"/>
          </a:xfrm>
          <a:prstGeom prst="roundRect">
            <a:avLst>
              <a:gd name="adj" fmla="val 5000"/>
            </a:avLst>
          </a:prstGeom>
          <a:solidFill>
            <a:srgbClr val="143842"/>
          </a:solidFill>
          <a:ln w="12700">
            <a:solidFill>
              <a:srgbClr val="27505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7194042" y="1789804"/>
            <a:ext cx="822960" cy="822960"/>
          </a:xfrm>
          <a:prstGeom prst="ellipse">
            <a:avLst/>
          </a:prstGeom>
          <a:solidFill>
            <a:srgbClr val="2FB6C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7194042" y="179652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46520" y="27432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Ricostruzione</a:t>
            </a: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mesh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60236" y="320040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lang="it-IT" sz="1400" dirty="0">
                <a:solidFill>
                  <a:srgbClr val="E8F1F3"/>
                </a:solidFill>
                <a:latin typeface="Cambria" panose="02040503050406030204" pitchFamily="18" charset="0"/>
                <a:cs typeface="Calibri" pitchFamily="34" charset="-120"/>
              </a:rPr>
              <a:t>Chiusura morfologica</a:t>
            </a:r>
          </a:p>
          <a:p>
            <a:pPr algn="ctr">
              <a:lnSpc>
                <a:spcPct val="110000"/>
              </a:lnSpc>
            </a:pPr>
            <a:r>
              <a:rPr lang="it-IT" sz="1400" dirty="0">
                <a:solidFill>
                  <a:srgbClr val="E8F1F3"/>
                </a:solidFill>
                <a:latin typeface="Cambria" panose="02040503050406030204" pitchFamily="18" charset="0"/>
                <a:cs typeface="Calibri" pitchFamily="34" charset="-120"/>
              </a:rPr>
              <a:t>+</a:t>
            </a:r>
          </a:p>
          <a:p>
            <a:pPr algn="ctr">
              <a:lnSpc>
                <a:spcPct val="110000"/>
              </a:lnSpc>
            </a:pPr>
            <a:r>
              <a:rPr lang="it-IT" sz="1400" dirty="0" err="1">
                <a:solidFill>
                  <a:srgbClr val="E8F1F3"/>
                </a:solidFill>
                <a:latin typeface="Cambria" panose="02040503050406030204" pitchFamily="18" charset="0"/>
                <a:cs typeface="Calibri" pitchFamily="34" charset="-120"/>
              </a:rPr>
              <a:t>Smoothing</a:t>
            </a:r>
            <a:r>
              <a:rPr lang="it-IT" sz="1400" dirty="0">
                <a:solidFill>
                  <a:srgbClr val="E8F1F3"/>
                </a:solidFill>
                <a:latin typeface="Cambria" panose="02040503050406030204" pitchFamily="18" charset="0"/>
                <a:cs typeface="Calibri" pitchFamily="34" charset="-120"/>
              </a:rPr>
              <a:t> gaussiano</a:t>
            </a:r>
          </a:p>
          <a:p>
            <a:pPr algn="ctr">
              <a:lnSpc>
                <a:spcPct val="110000"/>
              </a:lnSpc>
            </a:pPr>
            <a:r>
              <a:rPr lang="it-IT" sz="1400" dirty="0">
                <a:solidFill>
                  <a:srgbClr val="E8F1F3"/>
                </a:solidFill>
                <a:latin typeface="Cambria" panose="02040503050406030204" pitchFamily="18" charset="0"/>
                <a:cs typeface="Calibri" pitchFamily="34" charset="-120"/>
              </a:rPr>
              <a:t>+</a:t>
            </a:r>
          </a:p>
          <a:p>
            <a:pPr algn="ctr">
              <a:lnSpc>
                <a:spcPct val="110000"/>
              </a:lnSpc>
            </a:pPr>
            <a:r>
              <a:rPr lang="it-IT" sz="1400" dirty="0" err="1">
                <a:solidFill>
                  <a:srgbClr val="E8F1F3"/>
                </a:solidFill>
                <a:latin typeface="Cambria" panose="02040503050406030204" pitchFamily="18" charset="0"/>
                <a:cs typeface="Calibri" pitchFamily="34" charset="-120"/>
              </a:rPr>
              <a:t>Marching</a:t>
            </a:r>
            <a:r>
              <a:rPr lang="it-IT" sz="1400" dirty="0">
                <a:solidFill>
                  <a:srgbClr val="E8F1F3"/>
                </a:solidFill>
                <a:latin typeface="Cambria" panose="02040503050406030204" pitchFamily="18" charset="0"/>
                <a:cs typeface="Calibri" pitchFamily="34" charset="-120"/>
              </a:rPr>
              <a:t> Cubes </a:t>
            </a:r>
            <a:endParaRPr lang="en-US" sz="1400" dirty="0">
              <a:solidFill>
                <a:srgbClr val="E8F1F3"/>
              </a:solidFill>
              <a:latin typeface="Cambria" panose="02040503050406030204" pitchFamily="18" charset="0"/>
              <a:cs typeface="Calibri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796528" y="2194560"/>
            <a:ext cx="457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2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/>
          </a:p>
        </p:txBody>
      </p:sp>
      <p:sp>
        <p:nvSpPr>
          <p:cNvPr id="21" name="Shape 19"/>
          <p:cNvSpPr/>
          <p:nvPr/>
        </p:nvSpPr>
        <p:spPr>
          <a:xfrm>
            <a:off x="9156192" y="2194559"/>
            <a:ext cx="2548128" cy="3087445"/>
          </a:xfrm>
          <a:prstGeom prst="roundRect">
            <a:avLst>
              <a:gd name="adj" fmla="val 5000"/>
            </a:avLst>
          </a:prstGeom>
          <a:solidFill>
            <a:srgbClr val="143842"/>
          </a:solidFill>
          <a:ln w="12700">
            <a:solidFill>
              <a:srgbClr val="27505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10074402" y="1805940"/>
            <a:ext cx="822960" cy="822960"/>
          </a:xfrm>
          <a:prstGeom prst="ellipse">
            <a:avLst/>
          </a:prstGeom>
          <a:solidFill>
            <a:srgbClr val="2FB6C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10077024" y="179652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326880" y="27432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Mesh </a:t>
            </a:r>
            <a:r>
              <a:rPr lang="en-US" sz="15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pulita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326880" y="3188970"/>
            <a:ext cx="2240280" cy="1760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lang="it-IT" sz="1400" dirty="0">
                <a:solidFill>
                  <a:srgbClr val="E8F1F3"/>
                </a:solidFill>
                <a:latin typeface="Cambria" panose="02040503050406030204" pitchFamily="18" charset="0"/>
                <a:cs typeface="Calibri" pitchFamily="34" charset="-120"/>
              </a:rPr>
              <a:t>Riparazione buchi topologici</a:t>
            </a:r>
          </a:p>
          <a:p>
            <a:pPr algn="ctr">
              <a:lnSpc>
                <a:spcPct val="110000"/>
              </a:lnSpc>
            </a:pPr>
            <a:r>
              <a:rPr lang="it-IT" sz="1400" dirty="0">
                <a:solidFill>
                  <a:srgbClr val="E8F1F3"/>
                </a:solidFill>
                <a:latin typeface="Cambria" panose="02040503050406030204" pitchFamily="18" charset="0"/>
                <a:cs typeface="Calibri" pitchFamily="34" charset="-120"/>
              </a:rPr>
              <a:t>+</a:t>
            </a:r>
          </a:p>
          <a:p>
            <a:pPr algn="ctr">
              <a:lnSpc>
                <a:spcPct val="110000"/>
              </a:lnSpc>
            </a:pPr>
            <a:r>
              <a:rPr lang="it-IT" sz="1400" dirty="0">
                <a:solidFill>
                  <a:srgbClr val="E8F1F3"/>
                </a:solidFill>
                <a:latin typeface="Cambria" panose="02040503050406030204" pitchFamily="18" charset="0"/>
                <a:cs typeface="Calibri" pitchFamily="34" charset="-120"/>
              </a:rPr>
              <a:t>Salvataggio </a:t>
            </a:r>
          </a:p>
          <a:p>
            <a:pPr algn="ctr">
              <a:lnSpc>
                <a:spcPct val="110000"/>
              </a:lnSpc>
            </a:pPr>
            <a:r>
              <a:rPr lang="it-IT" sz="1400" dirty="0" err="1">
                <a:solidFill>
                  <a:srgbClr val="E8F1F3"/>
                </a:solidFill>
                <a:latin typeface="Cambria" panose="02040503050406030204" pitchFamily="18" charset="0"/>
                <a:cs typeface="Calibri" pitchFamily="34" charset="-120"/>
              </a:rPr>
              <a:t>NIfTI</a:t>
            </a:r>
            <a:r>
              <a:rPr lang="it-IT" sz="1400" dirty="0">
                <a:solidFill>
                  <a:srgbClr val="E8F1F3"/>
                </a:solidFill>
                <a:latin typeface="Cambria" panose="02040503050406030204" pitchFamily="18" charset="0"/>
                <a:cs typeface="Calibri" pitchFamily="34" charset="-120"/>
              </a:rPr>
              <a:t> + OBJ + JSON</a:t>
            </a:r>
            <a:endParaRPr lang="en-US" sz="1400" dirty="0">
              <a:solidFill>
                <a:srgbClr val="E8F1F3"/>
              </a:solidFill>
              <a:latin typeface="Cambria" panose="02040503050406030204" pitchFamily="18" charset="0"/>
              <a:cs typeface="Calibri" pitchFamily="34" charset="-120"/>
            </a:endParaRP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16E97ACA-9A39-71E1-FF3D-28CB5FA2634A}"/>
              </a:ext>
            </a:extLst>
          </p:cNvPr>
          <p:cNvSpPr txBox="1"/>
          <p:nvPr/>
        </p:nvSpPr>
        <p:spPr>
          <a:xfrm>
            <a:off x="813639" y="4036070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E8F1F3"/>
                </a:solidFill>
                <a:latin typeface="Cambria" panose="02040503050406030204" pitchFamily="18" charset="0"/>
                <a:cs typeface="Calibri" pitchFamily="34" charset="-120"/>
              </a:rPr>
              <a:t>Label mask per singola </a:t>
            </a:r>
          </a:p>
          <a:p>
            <a:pPr algn="ctr"/>
            <a:r>
              <a:rPr lang="it-IT" sz="1400" dirty="0">
                <a:solidFill>
                  <a:srgbClr val="E8F1F3"/>
                </a:solidFill>
                <a:latin typeface="Cambria" panose="02040503050406030204" pitchFamily="18" charset="0"/>
                <a:cs typeface="Calibri" pitchFamily="34" charset="-120"/>
              </a:rPr>
              <a:t>frattura</a:t>
            </a:r>
          </a:p>
        </p:txBody>
      </p:sp>
      <p:sp>
        <p:nvSpPr>
          <p:cNvPr id="33" name="Text 0">
            <a:extLst>
              <a:ext uri="{FF2B5EF4-FFF2-40B4-BE49-F238E27FC236}">
                <a16:creationId xmlns:a16="http://schemas.microsoft.com/office/drawing/2014/main" id="{8C376A6F-6BE4-329A-EB53-25237F51A347}"/>
              </a:ext>
            </a:extLst>
          </p:cNvPr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&amp; VOLUME EXTRACTION</a:t>
            </a:r>
            <a:endParaRPr lang="en-US" sz="1200" dirty="0"/>
          </a:p>
        </p:txBody>
      </p:sp>
      <p:sp>
        <p:nvSpPr>
          <p:cNvPr id="34" name="Text 1">
            <a:extLst>
              <a:ext uri="{FF2B5EF4-FFF2-40B4-BE49-F238E27FC236}">
                <a16:creationId xmlns:a16="http://schemas.microsoft.com/office/drawing/2014/main" id="{64DD942E-EB74-699D-B83A-CAB0F55DAC31}"/>
              </a:ext>
            </a:extLst>
          </p:cNvPr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Dalla </a:t>
            </a:r>
            <a:r>
              <a:rPr lang="en-US" sz="3000" b="1" dirty="0" err="1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segmentazione</a:t>
            </a:r>
            <a:r>
              <a:rPr lang="en-US" sz="30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 volume + mesh 3D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388</Words>
  <Application>Microsoft Macintosh PowerPoint</Application>
  <PresentationFormat>Widescreen</PresentationFormat>
  <Paragraphs>106</Paragraphs>
  <Slides>7</Slides>
  <Notes>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Wingdings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Jenny Tronconi</cp:lastModifiedBy>
  <cp:revision>3</cp:revision>
  <dcterms:created xsi:type="dcterms:W3CDTF">2026-07-06T09:20:35Z</dcterms:created>
  <dcterms:modified xsi:type="dcterms:W3CDTF">2026-07-06T15:25:58Z</dcterms:modified>
</cp:coreProperties>
</file>